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</a:defRPr>
            </a:pPr>
            <a:r>
              <a:t>B.TECH CSE (2024–28) • SEMESTER V • MACHINE LEARNING CASE STUDY EVALUATION</a:t>
            </a:r>
          </a:p>
          <a:p>
            <a:pPr>
              <a:spcAft>
                <a:spcPts val="800"/>
              </a:spcAft>
              <a:defRPr sz="3800" b="1">
                <a:solidFill>
                  <a:srgbClr val="F8FAFC"/>
                </a:solidFill>
              </a:defRPr>
            </a:pPr>
            <a:r>
              <a:t>Case Study No. 72: Water Consumption Prediction</a:t>
            </a:r>
          </a:p>
          <a:p>
            <a:pPr>
              <a:spcAft>
                <a:spcPts val="3000"/>
              </a:spcAft>
              <a:defRPr sz="2000" b="1">
                <a:solidFill>
                  <a:srgbClr val="38BDF8"/>
                </a:solidFill>
              </a:defRPr>
            </a:pPr>
            <a:r>
              <a:t>HydroPredict: Intelligent Municipal &amp; Household Water Demand Forecasting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Student: Ashutosh Rai | Enrollment: 150096724077 | Winning Model: Gradient Boosting (R² = 0.9901)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Problem Definition &amp; Operational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⚠️ The Utility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Supply-Demand Volatility: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Water utilities struggle to anticipate sudden demand spikes during heatwaves, leading to pipe pressure drops or catastrophic reservoir depletion.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Pumping Energy Waste: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Over-pumping wastes thousands of kilowatt-hours of grid electricity when demand is misjudged.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⚙️ ML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37744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Supervised Regression: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Predict 24-hour continuous water consumption (y in Liters) based on meteorological, temporal, demographic, and historical autoregressive lags.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Objective Function: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Minimize Mean Absolute Error (MAE) and RMSE to prevent peak-hour under-prediction.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🎯 Target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37744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Clean sensor telemetry defects &amp; handle missing weather values.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Resolve categorical disorder &amp; normalize mixed date formats.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Train and compare 5 distinct regression models.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Deliver an automated 3-tier demand planning advisory.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Deploy a functional Streamlit simulator with live inputs.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Dataset Architecture &amp; Feature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📊 Dataset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Source Domain: </a:t>
            </a:r>
            <a:r>
              <a:rPr b="0">
                <a:solidFill>
                  <a:srgbClr val="F8FAFC"/>
                </a:solidFill>
              </a:rPr>
              <a:t>Municipal Smart Meter &amp; Weather Telemetry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Total Records: </a:t>
            </a:r>
            <a:r>
              <a:rPr b="0">
                <a:solidFill>
                  <a:srgbClr val="F8FAFC"/>
                </a:solidFill>
              </a:rPr>
              <a:t>2,500 daily observations across multi-year cycle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Temporal Scope: </a:t>
            </a:r>
            <a:r>
              <a:rPr b="0">
                <a:solidFill>
                  <a:srgbClr val="F8FAFC"/>
                </a:solidFill>
              </a:rPr>
              <a:t>Multi-season continuous time-series (2022–2025)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Property Classes: </a:t>
            </a:r>
            <a:r>
              <a:rPr b="0">
                <a:solidFill>
                  <a:srgbClr val="F8FAFC"/>
                </a:solidFill>
              </a:rPr>
              <a:t>Apartments (55%), Villas (35%), Commercial (10%)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Target Variable: </a:t>
            </a:r>
            <a:r>
              <a:rPr b="0">
                <a:solidFill>
                  <a:srgbClr val="F8FAFC"/>
                </a:solidFill>
              </a:rPr>
              <a:t>Water_Consumption_Liters (Continuous numerical)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Key Dynamics: </a:t>
            </a:r>
            <a:r>
              <a:rPr b="0">
                <a:solidFill>
                  <a:srgbClr val="F8FAFC"/>
                </a:solidFill>
              </a:rPr>
              <a:t>Weather sensitivity, household occupancy, weekend spikes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📋 Feature Matrix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• Temperature_C [Meteorological]: </a:t>
            </a:r>
            <a:r>
              <a:rPr b="0">
                <a:solidFill>
                  <a:srgbClr val="94A3B8"/>
                </a:solidFill>
              </a:rPr>
              <a:t>Ambient temperature (°C), triggers showering/cooling.</a:t>
            </a: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• Humidity_Pct [Meteorological]: </a:t>
            </a:r>
            <a:r>
              <a:rPr b="0">
                <a:solidFill>
                  <a:srgbClr val="94A3B8"/>
                </a:solidFill>
              </a:rPr>
              <a:t>Relative humidity (%), inversely affects evaporation.</a:t>
            </a: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• Rainfall_mm [Meteorological]: </a:t>
            </a:r>
            <a:r>
              <a:rPr b="0">
                <a:solidFill>
                  <a:srgbClr val="94A3B8"/>
                </a:solidFill>
              </a:rPr>
              <a:t>Precipitation (mm), suppresses outdoor garden watering.</a:t>
            </a: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• Household_Type [Categorical]: </a:t>
            </a:r>
            <a:r>
              <a:rPr b="0">
                <a:solidFill>
                  <a:srgbClr val="94A3B8"/>
                </a:solidFill>
              </a:rPr>
              <a:t>Apartment vs Villa (lawn factor) vs Commercial facility.</a:t>
            </a: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• Occupants [Demographic]: </a:t>
            </a:r>
            <a:r>
              <a:rPr b="0">
                <a:solidFill>
                  <a:srgbClr val="94A3B8"/>
                </a:solidFill>
              </a:rPr>
              <a:t>Number of active residents/staff consuming water.</a:t>
            </a: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• Is_Weekend [Calendar]: </a:t>
            </a:r>
            <a:r>
              <a:rPr b="0">
                <a:solidFill>
                  <a:srgbClr val="94A3B8"/>
                </a:solidFill>
              </a:rPr>
              <a:t>Binary indicator (1 = Sat/Sun laundry &amp; domestic usage).</a:t>
            </a: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• Past_Day_Consumption [Autoregressive]: </a:t>
            </a:r>
            <a:r>
              <a:rPr b="0">
                <a:solidFill>
                  <a:srgbClr val="94A3B8"/>
                </a:solidFill>
              </a:rPr>
              <a:t>Lag-1 consumption (Liters) for temporal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Data Cleaning &amp; Resolving Telemetry Disorder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Missing Value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Audit Findings: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Temperature_C: 35 missing nulls</a:t>
            </a:r>
            <a:br/>
            <a:r>
              <a:t>• Humidity_Pct: 42 missing nulls</a:t>
            </a:r>
            <a:br/>
            <a:r>
              <a:t>• Rainfall_mm: 28 missing nulls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Domain-Specific Imputation: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Temperature/Humidity: Mean imputation (Gaussian distribution).</a:t>
            </a:r>
            <a:br/>
            <a:r>
              <a:t>• Rainfall: Imputed with 0.0 mm (skewed, zero-inflated event).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Removing Disorder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37744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Date Format Disorder: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Raw data contained mixed formats (YYYY-MM-DD vs DD/MM/YYYY). Standardized via pd.to_datetime(format='mixed').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String &amp; Whitespace Disorder: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Household_Type had messy casing ('apartment', ' VILLA '). Stripped whitespace and capitalized consistently.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3. Sensor Outlier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37744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Negative Reading Removal: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Identified 6 instances of negative consumption (-99.0 L) caused by sensor ground faults. Discarded as invalid.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IQR Spike Filtering: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Meter glitches (&gt; 15,000 L) identified and filtered via Interquartile Range upper bound (Q3 + 3.0 × IQR). Retained 2,484 valid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Exploratory Data Analysis: Key Domain Discoveries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📈 Meteorological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Summer Surge (+38%): </a:t>
            </a:r>
            <a:r>
              <a:rPr b="0">
                <a:solidFill>
                  <a:srgbClr val="94A3B8"/>
                </a:solidFill>
              </a:rPr>
              <a:t>Summer daily consumption averages ~720 L compared to ~430 L in Winter due to cooling towers and shower frequency.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Non-Linear Temperature Threshold: </a:t>
            </a:r>
            <a:r>
              <a:rPr b="0">
                <a:solidFill>
                  <a:srgbClr val="94A3B8"/>
                </a:solidFill>
              </a:rPr>
              <a:t>Water demand remains relatively flat below 22°C, but increases sharply at a rate of +6.5 Liters/°C once temperature crosses 25°C.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Precipitation Suppression: </a:t>
            </a:r>
            <a:r>
              <a:rPr b="0">
                <a:solidFill>
                  <a:srgbClr val="94A3B8"/>
                </a:solidFill>
              </a:rPr>
              <a:t>Heavy rainfall events (&gt; 10 mm) reduce Villa lawn irrigation demand by up to 45 Liters per property.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High Autoregressive Correlation: </a:t>
            </a:r>
            <a:r>
              <a:rPr b="0">
                <a:solidFill>
                  <a:srgbClr val="94A3B8"/>
                </a:solidFill>
              </a:rPr>
              <a:t>Past-Day Consumption demonstrates an r = 0.74 correlation with today's water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🏘️ Demographics &amp; Architectural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</a:defRPr>
            </a:pPr>
            <a:r>
              <a:t>• Villa vs Apartment Disparity: </a:t>
            </a:r>
            <a:r>
              <a:rPr b="0">
                <a:solidFill>
                  <a:srgbClr val="94A3B8"/>
                </a:solidFill>
              </a:rPr>
              <a:t>Villas consume on average 160 L/person/day + 45 L lawn factor, whereas Apartments average 135 L/person/day.</a:t>
            </a:r>
          </a:p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</a:defRPr>
            </a:pPr>
            <a:r>
              <a:t>• Linear Occupancy Scaling: </a:t>
            </a:r>
            <a:r>
              <a:rPr b="0">
                <a:solidFill>
                  <a:srgbClr val="94A3B8"/>
                </a:solidFill>
              </a:rPr>
              <a:t>Each additional occupant adds an expected 120–160 Liters of baseline consumption.</a:t>
            </a:r>
          </a:p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</a:defRPr>
            </a:pPr>
            <a:r>
              <a:t>• Weekend Behavioral Shifts: </a:t>
            </a:r>
            <a:r>
              <a:rPr b="0">
                <a:solidFill>
                  <a:srgbClr val="94A3B8"/>
                </a:solidFill>
              </a:rPr>
              <a:t>Domestic households exhibit a +15% demand surge on weekends due to laundry and vehicle washing.</a:t>
            </a:r>
          </a:p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</a:defRPr>
            </a:pPr>
            <a:r>
              <a:t>• Commercial Inversion: </a:t>
            </a:r>
            <a:r>
              <a:rPr b="0">
                <a:solidFill>
                  <a:srgbClr val="94A3B8"/>
                </a:solidFill>
              </a:rPr>
              <a:t>Commercial properties consume ~85 L/person on weekdays and drop by over 60% on weekends.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Feature Preprocessing &amp; Model Selection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🔧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One-Hot Encoding: </a:t>
            </a:r>
            <a:r>
              <a:rPr b="0">
                <a:solidFill>
                  <a:srgbClr val="94A3B8"/>
                </a:solidFill>
              </a:rPr>
              <a:t>Converted Household_Type (Apartment, Villa, Commercial) and Season (Winter, Spring, Summer, Autumn) into dummy variables with drop_first=True.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Feature Matrix Shape: </a:t>
            </a:r>
            <a:r>
              <a:rPr b="0">
                <a:solidFill>
                  <a:srgbClr val="94A3B8"/>
                </a:solidFill>
              </a:rPr>
              <a:t>Final input dimensionality: 12 numerical predictive features.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Train-Test Split: </a:t>
            </a:r>
            <a:r>
              <a:rPr b="0">
                <a:solidFill>
                  <a:srgbClr val="94A3B8"/>
                </a:solidFill>
              </a:rPr>
              <a:t>80% Training (N = 1,987) and 20% Out-of-Sample Testing (N = 497) with fixed random state 42.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Feature Scaling: </a:t>
            </a:r>
            <a:r>
              <a:rPr b="0">
                <a:solidFill>
                  <a:srgbClr val="94A3B8"/>
                </a:solidFill>
              </a:rPr>
              <a:t>StandardScaler applied for Linear and Ridge Regression to normalize z-scores: z = (x - μ) / 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🧠 5 Candidate Machine Learning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• 1. Linear Regression: </a:t>
            </a:r>
            <a:r>
              <a:rPr b="0">
                <a:solidFill>
                  <a:srgbClr val="F8FAFC"/>
                </a:solidFill>
              </a:rPr>
              <a:t>Baseline parametric model to capture linear per-capita scaling.</a:t>
            </a:r>
          </a:p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• 2. Ridge Regression: </a:t>
            </a:r>
            <a:r>
              <a:rPr b="0">
                <a:solidFill>
                  <a:srgbClr val="F8FAFC"/>
                </a:solidFill>
              </a:rPr>
              <a:t>L2 regularized model to penalize multi-collinear weather features.</a:t>
            </a:r>
          </a:p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• 3. Decision Tree: </a:t>
            </a:r>
            <a:r>
              <a:rPr b="0">
                <a:solidFill>
                  <a:srgbClr val="F8FAFC"/>
                </a:solidFill>
              </a:rPr>
              <a:t>Non-linear partitions to model discrete seasonal thresholds.</a:t>
            </a:r>
          </a:p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• 4. Random Forest: </a:t>
            </a:r>
            <a:r>
              <a:rPr b="0">
                <a:solidFill>
                  <a:srgbClr val="F8FAFC"/>
                </a:solidFill>
              </a:rPr>
              <a:t>Bagging ensemble of 100 decorrelated trees to reduce variance.</a:t>
            </a:r>
          </a:p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• 5. Gradient Boosting: </a:t>
            </a:r>
            <a:r>
              <a:rPr b="0">
                <a:solidFill>
                  <a:srgbClr val="F8FAFC"/>
                </a:solidFill>
              </a:rPr>
              <a:t>Sequential boosting ensemble minimizing gradient residuals.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Model Evaluation &amp; Comparative Experimental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🏆 Best R²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4D399"/>
                </a:solidFill>
              </a:defRPr>
            </a:pPr>
            <a:r>
              <a:t>0.9901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Gradient Boosting explains 99.01% of 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📉 Lowest Mean Error (MAE)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194560"/>
            <a:ext cx="29626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20.45 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Average error under 21 Liters per household.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🎯 Relative Error (MAPE)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94560"/>
            <a:ext cx="29626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6B6D4"/>
                </a:solidFill>
              </a:defRPr>
            </a:pPr>
            <a:r>
              <a:t>4.15%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Over 95.8% prediction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📊 Complete Benchmark Comparison on Test Set (N = 497)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4048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Machine Learning Model       | R² Score   | MAE (Liters)   | RMSE (Liters)  | MAPE (%)   | Status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Linear Regression            | 0.9466     | 49.70 L        | 67.35 L        | 10.00%     | Baseline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Ridge Regression (L2)        | 0.9466     | 49.76 L        | 67.33 L        | 10.02%     | Regularized Baseline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Decision Tree Regressor      | 0.9650     | 40.46 L        | 54.54 L        | 7.92%      | Captures Thresholds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Random Forest Regressor      | 0.9868     | 24.31 L        | 33.50 L        | 4.80%      | Strong Ensemble</a:t>
            </a:r>
          </a:p>
          <a:p>
            <a:pPr>
              <a:spcAft>
                <a:spcPts val="300"/>
              </a:spcAft>
              <a:defRPr sz="1100" b="1">
                <a:solidFill>
                  <a:srgbClr val="34D399"/>
                </a:solidFill>
              </a:defRPr>
            </a:pPr>
            <a:r>
              <a:t>Gradient Boosting Regressor  | 0.9901     | 20.45 L        | 28.92 L        | 4.15%      | ★ WINNING MODEL 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Working Streamlit Application (app.py)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💻 UI Architecture &amp;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• Interactive Sidebar Sliders: </a:t>
            </a:r>
            <a:r>
              <a:rPr b="0">
                <a:solidFill>
                  <a:srgbClr val="94A3B8"/>
                </a:solidFill>
              </a:rPr>
              <a:t>Real-time adjustment of ambient temperature (2°–46°C), humidity, precipitation, household type, and occupants.</a:t>
            </a:r>
          </a:p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• Live Prediction KPI Card: </a:t>
            </a:r>
            <a:r>
              <a:rPr b="0">
                <a:solidFill>
                  <a:srgbClr val="94A3B8"/>
                </a:solidFill>
              </a:rPr>
              <a:t>Instantaneous 24-hour demand calculation with confidence interval display (±20.4 L).</a:t>
            </a:r>
          </a:p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• Per Capita Metric: </a:t>
            </a:r>
            <a:r>
              <a:rPr b="0">
                <a:solidFill>
                  <a:srgbClr val="94A3B8"/>
                </a:solidFill>
              </a:rPr>
              <a:t>Calculates Liters/person/day benchmarked against the WHO standard of 135 L.</a:t>
            </a:r>
          </a:p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• Demand Breakdown Pie Chart: </a:t>
            </a:r>
            <a:r>
              <a:rPr b="0">
                <a:solidFill>
                  <a:srgbClr val="94A3B8"/>
                </a:solidFill>
              </a:rPr>
              <a:t>Interactive Plotly visualization attributing demand to base domestic, temperature cooling, garden irrigation, and lag.</a:t>
            </a:r>
          </a:p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• Historical Scatter Plot: </a:t>
            </a:r>
            <a:r>
              <a:rPr b="0">
                <a:solidFill>
                  <a:srgbClr val="94A3B8"/>
                </a:solidFill>
              </a:rPr>
              <a:t>Plots active simulation against historical multi-year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🚨 3-Tier Utility Demand Planning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🟢 State 1: Low Demand (&lt; 400 L)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Action: Maintain baseload water pumps at standard frequency. Recommended off-peak window for reservoir recharge.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🟡 State 2: Normal Demand (400–750 L)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Action: Standard distribution network pressure maintained. No auxiliary booster release required.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🔴 State 3: Peak Demand Surge (&gt; 750 L)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Action: Trigger secondary booster pump stations to prevent line pressure collapse during heatwaves. Issue automated conservation alerts to high-volume consumers.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Project Deliverables &amp; Repository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Dataset &amp; Telemetry: </a:t>
            </a:r>
            <a:r>
              <a:rPr b="0">
                <a:solidFill>
                  <a:srgbClr val="F8FAFC"/>
                </a:solidFill>
              </a:rPr>
              <a:t>data/water_consumption_raw.csv &amp; data/water_consumption_cleaned.csv (2,484 clean records).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2432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Executed Jupyter Notebook: </a:t>
            </a:r>
            <a:r>
              <a:rPr b="0">
                <a:solidFill>
                  <a:srgbClr val="F8FAFC"/>
                </a:solidFill>
              </a:rPr>
              <a:t>Case_Study_72_Water_Consumption_Prediction.ipynb with 22 executed cells, formulas, &amp;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Serialized ML Models: </a:t>
            </a:r>
            <a:r>
              <a:rPr b="0">
                <a:solidFill>
                  <a:srgbClr val="F8FAFC"/>
                </a:solidFill>
              </a:rPr>
              <a:t>models/best_water_model.pkl (Gradient Boosting), scaler.pkl, feature_columns.json.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59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7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Web Application: </a:t>
            </a:r>
            <a:r>
              <a:rPr b="0">
                <a:solidFill>
                  <a:srgbClr val="F8FAFC"/>
                </a:solidFill>
              </a:rPr>
              <a:t>app.py fully operational with Streamlit, Plotly, custom CSS, and demand planning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3036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5. Benchmark Summary: </a:t>
            </a:r>
            <a:r>
              <a:rPr b="0">
                <a:solidFill>
                  <a:srgbClr val="F8FAFC"/>
                </a:solidFill>
              </a:rPr>
              <a:t>models/model_metrics.json documenting R2, MAE, RMSE, MAPE across all 5 candidate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CASE STUDY NO. 72 •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Viva Defense Cheat-Sheet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🏁 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Successfully formulated Case Study No. 72 into a high-accuracy regression forecasting pipeline.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Resolved real-world data flaws: sensor dropouts, string casing disorder, and negative meter errors.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Gradient Boosting achieved industry-grade accuracy: R² = 0.9901 and MAE = 20.45 Liters.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Created an end-to-end interactive decision support prototype for municipal water utility engineers.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🎓 Professor Viva Q&amp;A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Q: Why GBR over Linear Regression?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Answer: Water consumption exhibits non-linear physical thresholds (e.g. sharp lawn watering surge above 25°C). Tree ensembles naturally model these non-linearities.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Q: Why Mean for Temp but Zero for Rain?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Answer: Temperature follows a normal Gaussian curve; rainfall is heavily zero-inflated (rains only 15% of days). Using the mean would introduce false rain on dry days.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Q: How does this help utilities?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Answer: Allows utilities to schedule pumping ahead of heatwaves, preventing line pressure drops and saving electrical energy during off-peak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